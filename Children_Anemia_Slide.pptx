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4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232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A2321"/>
                </a:solidFill>
                <a:latin typeface="Calibri"/>
              </a:rPr>
              <a:t>Anemia rate by wealth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Anemia rate</c:v>
                </c:pt>
              </c:strCache>
            </c:strRef>
          </c:tx>
          <c:spPr>
            <a:solidFill>
              <a:srgbClr val="A63D2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A23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Poorest</c:v>
                </c:pt>
                <c:pt idx="1">
                  <c:v>Richest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70113008"/>
        <c:axId val="271087208"/>
      </c:barChart>
      <c:catAx>
        <c:axId val="270113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321"/>
                </a:solidFill>
                <a:latin typeface="Arial"/>
              </a:defRPr>
            </a:pPr>
            <a:endParaRPr lang="en-US"/>
          </a:p>
        </c:txPr>
        <c:crossAx val="271087208"/>
        <c:crosses val="autoZero"/>
        <c:auto val="1"/>
        <c:lblAlgn val="ctr"/>
        <c:lblOffset val="100"/>
        <c:noMultiLvlLbl val="1"/>
      </c:catAx>
      <c:valAx>
        <c:axId val="271087208"/>
        <c:scaling>
          <c:orientation val="minMax"/>
          <c:max val="80"/>
        </c:scaling>
        <c:delete val="1"/>
        <c:axPos val="l"/>
        <c:numFmt formatCode="General" sourceLinked="0"/>
        <c:majorTickMark val="out"/>
        <c:minorTickMark val="none"/>
        <c:tickLblPos val="nextTo"/>
        <c:crossAx val="270113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232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A2321"/>
                </a:solidFill>
                <a:latin typeface="Calibri"/>
              </a:rPr>
              <a:t>Any anemia, by wealth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Any anemia</c:v>
                </c:pt>
              </c:strCache>
            </c:strRef>
          </c:tx>
          <c:spPr>
            <a:solidFill>
              <a:srgbClr val="A63D2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A23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Poorest</c:v>
                </c:pt>
                <c:pt idx="1">
                  <c:v>Richest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71236000"/>
        <c:axId val="271236384"/>
      </c:barChart>
      <c:catAx>
        <c:axId val="271236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321"/>
                </a:solidFill>
                <a:latin typeface="Arial"/>
              </a:defRPr>
            </a:pPr>
            <a:endParaRPr lang="en-US"/>
          </a:p>
        </c:txPr>
        <c:crossAx val="271236384"/>
        <c:crosses val="autoZero"/>
        <c:auto val="1"/>
        <c:lblAlgn val="ctr"/>
        <c:lblOffset val="100"/>
        <c:noMultiLvlLbl val="1"/>
      </c:catAx>
      <c:valAx>
        <c:axId val="271236384"/>
        <c:scaling>
          <c:orientation val="minMax"/>
          <c:max val="80"/>
        </c:scaling>
        <c:delete val="1"/>
        <c:axPos val="l"/>
        <c:numFmt formatCode="General" sourceLinked="0"/>
        <c:majorTickMark val="out"/>
        <c:minorTickMark val="none"/>
        <c:tickLblPos val="nextTo"/>
        <c:crossAx val="271236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232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A2321"/>
                </a:solidFill>
                <a:latin typeface="Calibri"/>
              </a:rPr>
              <a:t>Moderate anemia rate, by wealth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Moderate anemia</c:v>
                </c:pt>
              </c:strCache>
            </c:strRef>
          </c:tx>
          <c:spPr>
            <a:solidFill>
              <a:srgbClr val="3E6E6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A23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Poorest</c:v>
                </c:pt>
                <c:pt idx="1">
                  <c:v>Richest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72023448"/>
        <c:axId val="272034088"/>
      </c:barChart>
      <c:catAx>
        <c:axId val="272023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321"/>
                </a:solidFill>
                <a:latin typeface="Arial"/>
              </a:defRPr>
            </a:pPr>
            <a:endParaRPr lang="en-US"/>
          </a:p>
        </c:txPr>
        <c:crossAx val="272034088"/>
        <c:crosses val="autoZero"/>
        <c:auto val="1"/>
        <c:lblAlgn val="ctr"/>
        <c:lblOffset val="100"/>
        <c:noMultiLvlLbl val="1"/>
      </c:catAx>
      <c:valAx>
        <c:axId val="272034088"/>
        <c:scaling>
          <c:orientation val="minMax"/>
          <c:max val="50"/>
        </c:scaling>
        <c:delete val="1"/>
        <c:axPos val="l"/>
        <c:numFmt formatCode="General" sourceLinked="0"/>
        <c:majorTickMark val="out"/>
        <c:minorTickMark val="none"/>
        <c:tickLblPos val="nextTo"/>
        <c:crossAx val="272023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2321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2A2321"/>
                </a:solidFill>
                <a:latin typeface="Calibri"/>
              </a:rPr>
              <a:t>Anemia rate: rural vs. urban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Anemia rate</c:v>
                </c:pt>
              </c:strCache>
            </c:strRef>
          </c:tx>
          <c:spPr>
            <a:solidFill>
              <a:srgbClr val="A63D2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A23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Rural</c:v>
                </c:pt>
                <c:pt idx="1">
                  <c:v>Urban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62.5</c:v>
                </c:pt>
                <c:pt idx="1">
                  <c:v>54.3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72123064"/>
        <c:axId val="272123448"/>
      </c:barChart>
      <c:catAx>
        <c:axId val="2721230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321"/>
                </a:solidFill>
                <a:latin typeface="Arial"/>
              </a:defRPr>
            </a:pPr>
            <a:endParaRPr lang="en-US"/>
          </a:p>
        </c:txPr>
        <c:crossAx val="272123448"/>
        <c:crosses val="autoZero"/>
        <c:auto val="1"/>
        <c:lblAlgn val="ctr"/>
        <c:lblOffset val="100"/>
        <c:noMultiLvlLbl val="1"/>
      </c:catAx>
      <c:valAx>
        <c:axId val="272123448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crossAx val="272123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232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A2321"/>
                </a:solidFill>
                <a:latin typeface="Calibri"/>
              </a:rPr>
              <a:t>Average hemoglobin, by wealth (g/dl)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hemoglobin (g/dl)</c:v>
                </c:pt>
              </c:strCache>
            </c:strRef>
          </c:tx>
          <c:spPr>
            <a:solidFill>
              <a:srgbClr val="3E6E6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A23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Poorest</c:v>
                </c:pt>
                <c:pt idx="1">
                  <c:v>Richest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111.8</c:v>
                </c:pt>
                <c:pt idx="1">
                  <c:v>118.2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72205064"/>
        <c:axId val="271101400"/>
      </c:barChart>
      <c:catAx>
        <c:axId val="2722050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321"/>
                </a:solidFill>
                <a:latin typeface="Arial"/>
              </a:defRPr>
            </a:pPr>
            <a:endParaRPr lang="en-US"/>
          </a:p>
        </c:txPr>
        <c:crossAx val="271101400"/>
        <c:crosses val="autoZero"/>
        <c:auto val="1"/>
        <c:lblAlgn val="ctr"/>
        <c:lblOffset val="100"/>
        <c:noMultiLvlLbl val="1"/>
      </c:catAx>
      <c:valAx>
        <c:axId val="271101400"/>
        <c:scaling>
          <c:orientation val="minMax"/>
          <c:max val="125"/>
          <c:min val="100"/>
        </c:scaling>
        <c:delete val="1"/>
        <c:axPos val="l"/>
        <c:numFmt formatCode="General" sourceLinked="0"/>
        <c:majorTickMark val="out"/>
        <c:minorTickMark val="none"/>
        <c:tickLblPos val="nextTo"/>
        <c:crossAx val="272205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4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1005840"/>
            <a:ext cx="1920240" cy="1920240"/>
          </a:xfrm>
          <a:prstGeom prst="ellipse">
            <a:avLst/>
          </a:prstGeom>
          <a:solidFill>
            <a:srgbClr val="A63D2F"/>
          </a:solidFill>
          <a:ln/>
        </p:spPr>
      </p:sp>
      <p:sp>
        <p:nvSpPr>
          <p:cNvPr id="3" name="Shape 1"/>
          <p:cNvSpPr/>
          <p:nvPr/>
        </p:nvSpPr>
        <p:spPr>
          <a:xfrm>
            <a:off x="10378440" y="3063240"/>
            <a:ext cx="960120" cy="960120"/>
          </a:xfrm>
          <a:prstGeom prst="ellipse">
            <a:avLst/>
          </a:prstGeom>
          <a:solidFill>
            <a:srgbClr val="3E6E6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CHILDREN'S ANEMIA IN NIGERIA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kids are hit hardest, using survey data on nearly 34,000 children under five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summary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02920"/>
            <a:ext cx="457200" cy="457200"/>
          </a:xfrm>
          <a:prstGeom prst="ellipse">
            <a:avLst/>
          </a:prstGeom>
          <a:solidFill>
            <a:srgbClr val="A63D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6972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A6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Poverty is driving this, not location or education on their own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126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Poorer kids are anemic more often, and when they are, it hits harder. That same pattern shows up three separate ways — the anemia rate, how severe it gets, and the raw blood hemoglobin number. Rural areas and less-educated mothers point the same direction, but that's because those groups are also poorer on average, not a separate cause.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7F1E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53309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58247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rate, poorest households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5257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7F1EC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53309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49040" y="58247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rate, richest households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5257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7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53309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pts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12280" y="58247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the two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7360920" y="1874520"/>
          <a:ext cx="4297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Anemia in Nigeria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 is the clearest split in the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it's not just whether a child is </a:t>
            </a:r>
            <a:r>
              <a:rPr lang="en-US" sz="1400" i="1" dirty="0" smtClean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anemic, </a:t>
            </a:r>
            <a:r>
              <a:rPr lang="en-US" sz="14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bad it gets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00800" y="182880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440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anemia is rare everywhere (around 1–2%), but even that small share skews toward poorer households.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Anemia in Nigeria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really one problem, not four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living and less schooling for mothers usually mean less money </a:t>
            </a:r>
            <a:r>
              <a:rPr lang="en-US" sz="1400" i="1" dirty="0" smtClean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too, </a:t>
            </a:r>
            <a:r>
              <a:rPr lang="en-US" sz="14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point the same way as the wealth gap, not a separate cause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96596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rate by mother's education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0" y="2468880"/>
            <a:ext cx="5120640" cy="493776"/>
          </a:xfrm>
          <a:prstGeom prst="rect">
            <a:avLst/>
          </a:prstGeom>
          <a:solidFill>
            <a:srgbClr val="F7F1EC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246888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education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149840" y="246888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6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64.0%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3035808"/>
            <a:ext cx="512064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303580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149840" y="303580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6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3602736"/>
            <a:ext cx="5120640" cy="493776"/>
          </a:xfrm>
          <a:prstGeom prst="rect">
            <a:avLst/>
          </a:prstGeom>
          <a:solidFill>
            <a:srgbClr val="F7F1EC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360273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149840" y="3602736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6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4169664"/>
            <a:ext cx="512064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416966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149840" y="4169664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6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Anemia in Nigeria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blood numbers back this 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hemoglobin rises step by step with </a:t>
            </a:r>
            <a:r>
              <a:rPr lang="en-US" sz="1400" i="1" dirty="0" smtClean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wealth, the </a:t>
            </a:r>
            <a:r>
              <a:rPr lang="en-US" sz="14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story, measured a completely different way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920240"/>
          <a:ext cx="6675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360920" y="219456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hemoglobin means more anemia. This isn't a different </a:t>
            </a:r>
            <a:r>
              <a:rPr lang="en-US" sz="1400" dirty="0" smtClean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</a:t>
            </a: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anemia rate chart from a completely independent angle, and it lines up almost exactly. That's a good sign the wealth pattern is real, not an artifact of how anemia was categorized.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Anemia in Nigeria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 nets and iron pills barely moved the needle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reporting honestly, even though it's not the result anyone was hoping for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7F1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 nets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59.1%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net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2743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6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0896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sense: nets stop malaria specifically, but anemia also comes from diet, iron deficiency, and other infections a net can't touch.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7F1E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94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 supplements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57.7%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3796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iron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2743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6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7824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taking iron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02336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gap than you'd hope for if supplements were working well. Could mean they aren't reaching kids consistently — or families start giving iron only after a child is already diagnosed, which would flip cause and effect.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Anemia in Nigeria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548640"/>
            <a:ext cx="640080" cy="640080"/>
          </a:xfrm>
          <a:prstGeom prst="ellipse">
            <a:avLst/>
          </a:prstGeom>
          <a:solidFill>
            <a:srgbClr val="A63D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</a:t>
            </a:r>
            <a:r>
              <a:rPr lang="en-US" sz="1400" b="1" kern="0" spc="100" dirty="0" smtClean="0">
                <a:solidFill>
                  <a:srgbClr val="E8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stipulation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in 10 kids in this dataset have no anemia test result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342B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6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20,800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33,924 kids have no anemia test on record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49040" y="210312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dirty="0" smtClean="0">
                <a:solidFill>
                  <a:schemeClr val="bg2"/>
                </a:solidFill>
              </a:rPr>
              <a:t>Out </a:t>
            </a:r>
            <a:r>
              <a:rPr lang="en-US" dirty="0">
                <a:solidFill>
                  <a:schemeClr val="bg2"/>
                </a:solidFill>
              </a:rPr>
              <a:t>of about 34,000 kids in this data, over 20,000 were never tested for anemia. So really, everything here comes from the 13,000 or so kids who </a:t>
            </a:r>
            <a:r>
              <a:rPr lang="en-US" i="1" dirty="0">
                <a:solidFill>
                  <a:schemeClr val="bg2"/>
                </a:solidFill>
              </a:rPr>
              <a:t>were</a:t>
            </a:r>
            <a:r>
              <a:rPr lang="en-US" dirty="0">
                <a:solidFill>
                  <a:schemeClr val="bg2"/>
                </a:solidFill>
              </a:rPr>
              <a:t> tested </a:t>
            </a:r>
            <a:r>
              <a:rPr lang="en-US" dirty="0" smtClean="0">
                <a:solidFill>
                  <a:schemeClr val="bg2"/>
                </a:solidFill>
              </a:rPr>
              <a:t>not </a:t>
            </a:r>
            <a:r>
              <a:rPr lang="en-US" dirty="0">
                <a:solidFill>
                  <a:schemeClr val="bg2"/>
                </a:solidFill>
              </a:rPr>
              <a:t>the whole group</a:t>
            </a:r>
            <a:r>
              <a:rPr lang="en-US" dirty="0" smtClean="0">
                <a:solidFill>
                  <a:schemeClr val="bg2"/>
                </a:solidFill>
              </a:rPr>
              <a:t>.</a:t>
            </a:r>
          </a:p>
          <a:p>
            <a:pPr algn="just"/>
            <a:endParaRPr lang="en-US" dirty="0">
              <a:solidFill>
                <a:schemeClr val="bg2"/>
              </a:solidFill>
            </a:endParaRPr>
          </a:p>
          <a:p>
            <a:pPr algn="just"/>
            <a:r>
              <a:rPr lang="en-US" dirty="0">
                <a:solidFill>
                  <a:schemeClr val="bg2"/>
                </a:solidFill>
              </a:rPr>
              <a:t>We don't know why so many kids weren't tested. Here's the worry: if the sicker kids were more likely to get tested in the first place, that would push these anemia numbers up higher than what's really going on for all children</a:t>
            </a:r>
            <a:r>
              <a:rPr lang="en-US" dirty="0" smtClean="0">
                <a:solidFill>
                  <a:schemeClr val="bg2"/>
                </a:solidFill>
              </a:rPr>
              <a:t>.</a:t>
            </a:r>
          </a:p>
          <a:p>
            <a:pPr algn="just"/>
            <a:endParaRPr lang="en-US" dirty="0">
              <a:solidFill>
                <a:schemeClr val="bg2"/>
              </a:solidFill>
            </a:endParaRPr>
          </a:p>
          <a:p>
            <a:pPr algn="just"/>
            <a:r>
              <a:rPr lang="en-US" dirty="0">
                <a:solidFill>
                  <a:schemeClr val="bg2"/>
                </a:solidFill>
              </a:rPr>
              <a:t>So take these findings as a strong hint about what's </a:t>
            </a:r>
            <a:r>
              <a:rPr lang="en-US" dirty="0" smtClean="0">
                <a:solidFill>
                  <a:schemeClr val="bg2"/>
                </a:solidFill>
              </a:rPr>
              <a:t>happening </a:t>
            </a:r>
            <a:r>
              <a:rPr lang="en-US" dirty="0">
                <a:solidFill>
                  <a:schemeClr val="bg2"/>
                </a:solidFill>
              </a:rPr>
              <a:t>not a precise number you can bank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937760"/>
            <a:ext cx="2103120" cy="2103120"/>
          </a:xfrm>
          <a:prstGeom prst="ellipse">
            <a:avLst/>
          </a:prstGeom>
          <a:solidFill>
            <a:srgbClr val="3E6E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Poverty is the headline. Everything else is downstream of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living and mothers with less schooling matter here mainly because they overlap with lower household </a:t>
            </a:r>
            <a:r>
              <a:rPr lang="en-US" sz="1500" dirty="0" smtClean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</a:t>
            </a:r>
            <a:r>
              <a:rPr lang="en-US" sz="1500" dirty="0">
                <a:solidFill>
                  <a:srgbClr val="D8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they're separate problems needing separate fixes.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7863840" cy="2651760"/>
          </a:xfrm>
          <a:prstGeom prst="roundRect">
            <a:avLst>
              <a:gd name="adj" fmla="val 3448"/>
            </a:avLst>
          </a:prstGeom>
          <a:solidFill>
            <a:srgbClr val="342B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611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programs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chemeClr val="bg2"/>
                </a:solidFill>
              </a:rPr>
              <a:t>Just handing out more bed nets or iron supplements probably won't change much on its </a:t>
            </a:r>
            <a:r>
              <a:rPr lang="en-US" sz="1400" dirty="0" smtClean="0">
                <a:solidFill>
                  <a:schemeClr val="bg2"/>
                </a:solidFill>
              </a:rPr>
              <a:t>own, </a:t>
            </a:r>
            <a:r>
              <a:rPr lang="en-US" sz="1400" dirty="0">
                <a:solidFill>
                  <a:schemeClr val="bg2"/>
                </a:solidFill>
              </a:rPr>
              <a:t>the data shows both barely made a difference. The programs that actually stand a chance are the ones that also deal with poverty and access to care, not just the supplies.</a:t>
            </a:r>
            <a:endParaRPr lang="en-US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690</Words>
  <Application>Microsoft Office PowerPoint</Application>
  <PresentationFormat>Widescreen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2026-07-14T18:10:52Z</dcterms:created>
  <dcterms:modified xsi:type="dcterms:W3CDTF">2026-07-15T06:34:19Z</dcterms:modified>
</cp:coreProperties>
</file>